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  <p:sldId id="31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50" d="100"/>
          <a:sy n="50" d="100"/>
        </p:scale>
        <p:origin x="1934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225BD4-A803-F856-4B17-326ED91BE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" y="-974"/>
            <a:ext cx="12192000" cy="5467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B1745DA-D68D-09F3-69C3-F6204FED2767}"/>
              </a:ext>
            </a:extLst>
          </p:cNvPr>
          <p:cNvSpPr txBox="1"/>
          <p:nvPr/>
        </p:nvSpPr>
        <p:spPr>
          <a:xfrm>
            <a:off x="383458" y="5742039"/>
            <a:ext cx="4670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entury" panose="02040604050505020304" pitchFamily="18" charset="0"/>
              </a:rPr>
              <a:t>Presented By: Kotipalli Rajesh</a:t>
            </a:r>
          </a:p>
          <a:p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dirty="0"/>
              <a:t>Introduction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1D385E-D618-C448-5328-0111222F7C94}"/>
              </a:ext>
            </a:extLst>
          </p:cNvPr>
          <p:cNvSpPr txBox="1"/>
          <p:nvPr/>
        </p:nvSpPr>
        <p:spPr>
          <a:xfrm>
            <a:off x="882315" y="2245895"/>
            <a:ext cx="108444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entury" panose="02040604050505020304" pitchFamily="18" charset="0"/>
              </a:rPr>
              <a:t>What is Waypoint?</a:t>
            </a:r>
          </a:p>
          <a:p>
            <a:r>
              <a:rPr lang="en-IN" dirty="0">
                <a:latin typeface="Century" panose="02040604050505020304" pitchFamily="18" charset="0"/>
              </a:rPr>
              <a:t>Waypoint is an AI-assisted maritime brokerage platform designed to simplify and digitize the process of </a:t>
            </a:r>
            <a:r>
              <a:rPr lang="en-IN" b="1" dirty="0">
                <a:latin typeface="Century" panose="02040604050505020304" pitchFamily="18" charset="0"/>
              </a:rPr>
              <a:t>marine route analysis, port connectivity, weather assessment, quotation management and operational monitoring</a:t>
            </a:r>
            <a:r>
              <a:rPr lang="en-IN" dirty="0">
                <a:latin typeface="Century" panose="02040604050505020304" pitchFamily="18" charset="0"/>
              </a:rPr>
              <a:t>.</a:t>
            </a:r>
          </a:p>
          <a:p>
            <a:endParaRPr lang="en-IN" dirty="0">
              <a:latin typeface="Century" panose="02040604050505020304" pitchFamily="18" charset="0"/>
            </a:endParaRPr>
          </a:p>
          <a:p>
            <a:r>
              <a:rPr lang="en-IN" dirty="0">
                <a:latin typeface="Century" panose="02040604050505020304" pitchFamily="18" charset="0"/>
              </a:rPr>
              <a:t>The platform combines: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Route intelligence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Maritime weather information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Connected-port discovery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Digital quotation requests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Search history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Operations analytics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Multilingual AI assistance</a:t>
            </a:r>
          </a:p>
          <a:p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9FB7-8AAD-004E-9DC6-0776DC28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74435-3B02-AE30-46FE-52ED5CDE1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321561"/>
            <a:ext cx="6987942" cy="3971757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b="1" dirty="0"/>
              <a:t>Manual Route Planning</a:t>
            </a:r>
            <a:endParaRPr lang="en-IN" dirty="0"/>
          </a:p>
          <a:p>
            <a:pPr marL="0" lvl="0" indent="0">
              <a:lnSpc>
                <a:spcPct val="150000"/>
              </a:lnSpc>
              <a:buNone/>
            </a:pPr>
            <a:r>
              <a:rPr lang="en-IN" b="1" dirty="0"/>
              <a:t> Fragmented Information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IN" b="1" dirty="0"/>
              <a:t>Manual Quotation Process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IN" dirty="0"/>
              <a:t> </a:t>
            </a:r>
            <a:r>
              <a:rPr lang="en-IN" b="1" dirty="0"/>
              <a:t>Limited Operational Visibility</a:t>
            </a:r>
            <a:endParaRPr lang="en-IN" dirty="0"/>
          </a:p>
          <a:p>
            <a:pPr lvl="0">
              <a:lnSpc>
                <a:spcPct val="150000"/>
              </a:lnSpc>
            </a:pPr>
            <a:r>
              <a:rPr lang="en-IN" b="1" dirty="0"/>
              <a:t>Limited Intelligent Assistance</a:t>
            </a:r>
            <a:endParaRPr lang="en-IN" dirty="0"/>
          </a:p>
        </p:txBody>
      </p:sp>
      <p:pic>
        <p:nvPicPr>
          <p:cNvPr id="6" name="Picture 5" descr="Cargo Shipping Business">
            <a:extLst>
              <a:ext uri="{FF2B5EF4-FFF2-40B4-BE49-F238E27FC236}">
                <a16:creationId xmlns:a16="http://schemas.microsoft.com/office/drawing/2014/main" id="{012B54E1-4416-B2EA-1FF4-B8CAEC74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35480"/>
            <a:ext cx="6934200" cy="4526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234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D86D7C-69AA-C327-4907-CE6C24EF0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960" y="0"/>
            <a:ext cx="542544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BDF275-0125-B3B2-13DF-9C832E5A9CBB}"/>
              </a:ext>
            </a:extLst>
          </p:cNvPr>
          <p:cNvSpPr txBox="1"/>
          <p:nvPr/>
        </p:nvSpPr>
        <p:spPr>
          <a:xfrm>
            <a:off x="1615440" y="152400"/>
            <a:ext cx="45567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dirty="0">
                <a:latin typeface="Century" panose="02040604050505020304" pitchFamily="18" charset="0"/>
              </a:rPr>
              <a:t>Proposed Solution </a:t>
            </a:r>
          </a:p>
          <a:p>
            <a:pPr algn="ctr"/>
            <a:r>
              <a:rPr lang="en-IN" sz="3000" dirty="0">
                <a:latin typeface="Century" panose="02040604050505020304" pitchFamily="18" charset="0"/>
              </a:rPr>
              <a:t>&amp; </a:t>
            </a:r>
          </a:p>
          <a:p>
            <a:pPr algn="ctr"/>
            <a:r>
              <a:rPr lang="en-IN" sz="3000" dirty="0">
                <a:latin typeface="Century" panose="02040604050505020304" pitchFamily="18" charset="0"/>
              </a:rPr>
              <a:t>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2CAB4-7CB6-B34A-396A-476589CA244B}"/>
              </a:ext>
            </a:extLst>
          </p:cNvPr>
          <p:cNvSpPr txBox="1"/>
          <p:nvPr/>
        </p:nvSpPr>
        <p:spPr>
          <a:xfrm>
            <a:off x="838200" y="2443404"/>
            <a:ext cx="6614160" cy="2221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dirty="0">
                <a:latin typeface="Century" panose="02040604050505020304" pitchFamily="18" charset="0"/>
              </a:rPr>
              <a:t>🚢 </a:t>
            </a:r>
            <a:r>
              <a:rPr lang="en-IN" b="1" dirty="0">
                <a:latin typeface="Century" panose="02040604050505020304" pitchFamily="18" charset="0"/>
              </a:rPr>
              <a:t>Intelligent Route Planning</a:t>
            </a:r>
            <a:r>
              <a:rPr lang="en-IN" dirty="0">
                <a:latin typeface="Century" panose="02040604050505020304" pitchFamily="18" charset="0"/>
              </a:rPr>
              <a:t>.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Century" panose="02040604050505020304" pitchFamily="18" charset="0"/>
              </a:rPr>
              <a:t>⚓ </a:t>
            </a:r>
            <a:r>
              <a:rPr lang="en-IN" b="1" dirty="0">
                <a:latin typeface="Century" panose="02040604050505020304" pitchFamily="18" charset="0"/>
              </a:rPr>
              <a:t>Port &amp; Weather Intelligence</a:t>
            </a:r>
            <a:r>
              <a:rPr lang="en-IN" dirty="0">
                <a:latin typeface="Century" panose="02040604050505020304" pitchFamily="18" charset="0"/>
              </a:rPr>
              <a:t>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Century" panose="02040604050505020304" pitchFamily="18" charset="0"/>
              </a:rPr>
              <a:t>💼 </a:t>
            </a:r>
            <a:r>
              <a:rPr lang="en-IN" b="1" dirty="0">
                <a:latin typeface="Century" panose="02040604050505020304" pitchFamily="18" charset="0"/>
              </a:rPr>
              <a:t>Digital Quotation Management</a:t>
            </a:r>
            <a:r>
              <a:rPr lang="en-IN" dirty="0">
                <a:latin typeface="Century" panose="02040604050505020304" pitchFamily="18" charset="0"/>
              </a:rPr>
              <a:t>  </a:t>
            </a:r>
          </a:p>
          <a:p>
            <a:pPr lvl="0">
              <a:lnSpc>
                <a:spcPct val="200000"/>
              </a:lnSpc>
            </a:pPr>
            <a:r>
              <a:rPr lang="en-IN" dirty="0">
                <a:latin typeface="Century" panose="02040604050505020304" pitchFamily="18" charset="0"/>
              </a:rPr>
              <a:t>📊 </a:t>
            </a:r>
            <a:r>
              <a:rPr lang="en-IN" b="1" dirty="0">
                <a:latin typeface="Century" panose="02040604050505020304" pitchFamily="18" charset="0"/>
              </a:rPr>
              <a:t>Operational Analytics</a:t>
            </a:r>
            <a:r>
              <a:rPr lang="en-IN" dirty="0">
                <a:latin typeface="Century" panose="02040604050505020304" pitchFamily="18" charset="0"/>
              </a:rPr>
              <a:t> 🤖 </a:t>
            </a:r>
            <a:r>
              <a:rPr lang="en-IN" b="1" dirty="0">
                <a:latin typeface="Century" panose="02040604050505020304" pitchFamily="18" charset="0"/>
              </a:rPr>
              <a:t>AI-Powered Assist</a:t>
            </a: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8365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D81E-117C-A222-8FA2-0FAD3CD4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160" y="-725379"/>
            <a:ext cx="10058400" cy="1450757"/>
          </a:xfrm>
        </p:spPr>
        <p:txBody>
          <a:bodyPr/>
          <a:lstStyle/>
          <a:p>
            <a:r>
              <a:rPr lang="en-GB" dirty="0"/>
              <a:t>System Architecture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8A8839-3BF5-83FD-165D-B680971E8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5378"/>
            <a:ext cx="12191999" cy="6508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394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EFE3-D201-2489-47C8-42833B360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1240" y="-725379"/>
            <a:ext cx="10058400" cy="1450757"/>
          </a:xfrm>
        </p:spPr>
        <p:txBody>
          <a:bodyPr/>
          <a:lstStyle/>
          <a:p>
            <a:r>
              <a:rPr lang="en-IN" dirty="0"/>
              <a:t>Authentication &amp; Security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E7E6C-39BF-106A-6D77-7C63CE0AD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20" y="725378"/>
            <a:ext cx="7299961" cy="61326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3E8480-E83A-7A12-627C-4F8E9EFA69D2}"/>
              </a:ext>
            </a:extLst>
          </p:cNvPr>
          <p:cNvSpPr txBox="1"/>
          <p:nvPr/>
        </p:nvSpPr>
        <p:spPr>
          <a:xfrm>
            <a:off x="960120" y="2042160"/>
            <a:ext cx="3611880" cy="41871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Century" panose="02040604050505020304" pitchFamily="18" charset="0"/>
              </a:rPr>
              <a:t>Security mechanisms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Century" panose="02040604050505020304" pitchFamily="18" charset="0"/>
              </a:rPr>
              <a:t>Password hashing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Century" panose="02040604050505020304" pitchFamily="18" charset="0"/>
              </a:rPr>
              <a:t>JWT authentication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Century" panose="02040604050505020304" pitchFamily="18" charset="0"/>
              </a:rPr>
              <a:t>Token-based API authorization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Century" panose="02040604050505020304" pitchFamily="18" charset="0"/>
              </a:rPr>
              <a:t>OTP verification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Century" panose="02040604050505020304" pitchFamily="18" charset="0"/>
              </a:rPr>
              <a:t>Protected user-specific history and quotations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7229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C3CD3-F448-DE77-C713-B229EC37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960" y="0"/>
            <a:ext cx="10058400" cy="1450757"/>
          </a:xfrm>
        </p:spPr>
        <p:txBody>
          <a:bodyPr/>
          <a:lstStyle/>
          <a:p>
            <a:r>
              <a:rPr lang="en-IN" dirty="0"/>
              <a:t>Waypoint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17D8B4-27DC-3F6C-8B58-B1B3E7CA0F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34512" y="35713"/>
            <a:ext cx="4557488" cy="64051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49DE02-3EF7-B0E7-0545-89D0A757A0AF}"/>
              </a:ext>
            </a:extLst>
          </p:cNvPr>
          <p:cNvSpPr txBox="1"/>
          <p:nvPr/>
        </p:nvSpPr>
        <p:spPr>
          <a:xfrm>
            <a:off x="1203960" y="1849195"/>
            <a:ext cx="4021259" cy="4193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Waypoint AI acts as an intelligent assistant inside the application.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Users can ask questions about: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Maritime concepts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Routes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Route scores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Transshipments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Weather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Ports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Quotations </a:t>
            </a:r>
          </a:p>
        </p:txBody>
      </p:sp>
    </p:spTree>
    <p:extLst>
      <p:ext uri="{BB962C8B-B14F-4D97-AF65-F5344CB8AC3E}">
        <p14:creationId xmlns:p14="http://schemas.microsoft.com/office/powerpoint/2010/main" val="320665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FBD80-3508-8938-8BFD-719FC98A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0640" y="-461849"/>
            <a:ext cx="10058400" cy="1450757"/>
          </a:xfrm>
        </p:spPr>
        <p:txBody>
          <a:bodyPr/>
          <a:lstStyle/>
          <a:p>
            <a:r>
              <a:rPr lang="en-IN" dirty="0"/>
              <a:t>Waypoint AI is a Context-aware AI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53600-2827-90EE-E22D-DB3C26AD8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70320" y="988908"/>
            <a:ext cx="5821680" cy="5869092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083EA2-7F27-649E-C71D-9FD21AB8DB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233360"/>
              </p:ext>
            </p:extLst>
          </p:nvPr>
        </p:nvGraphicFramePr>
        <p:xfrm>
          <a:off x="333438" y="1097280"/>
          <a:ext cx="6036882" cy="57607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8441">
                  <a:extLst>
                    <a:ext uri="{9D8B030D-6E8A-4147-A177-3AD203B41FA5}">
                      <a16:colId xmlns:a16="http://schemas.microsoft.com/office/drawing/2014/main" val="1161197815"/>
                    </a:ext>
                  </a:extLst>
                </a:gridCol>
                <a:gridCol w="3018441">
                  <a:extLst>
                    <a:ext uri="{9D8B030D-6E8A-4147-A177-3AD203B41FA5}">
                      <a16:colId xmlns:a16="http://schemas.microsoft.com/office/drawing/2014/main" val="3559720937"/>
                    </a:ext>
                  </a:extLst>
                </a:gridCol>
              </a:tblGrid>
              <a:tr h="651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Traditional AI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Context-Aware AI — Waypoint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072699"/>
                  </a:ext>
                </a:extLst>
              </a:tr>
              <a:tr h="109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Responds mainly to the user's 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Responds using the user's message plus application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51525"/>
                  </a:ext>
                </a:extLst>
              </a:tr>
              <a:tr h="766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Usually treats every question independently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Understands what the user is currently doing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2252049"/>
                  </a:ext>
                </a:extLst>
              </a:tr>
              <a:tr h="875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 little or no knowledge of current application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Can use current page, route data, weather data, etc.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2102751"/>
                  </a:ext>
                </a:extLst>
              </a:tr>
              <a:tr h="510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Generic responses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Specific, relevant responses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728289"/>
                  </a:ext>
                </a:extLst>
              </a:tr>
              <a:tr h="766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may need to provide all details manually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Application can automatically provide relevant 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9504046"/>
                  </a:ext>
                </a:extLst>
              </a:tr>
              <a:tr h="1094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“What is the best route?” → generic explanation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“What is the best route?” → </a:t>
                      </a:r>
                      <a:r>
                        <a:rPr lang="en-IN" dirty="0" err="1"/>
                        <a:t>analyzes</a:t>
                      </a:r>
                      <a:r>
                        <a:rPr lang="en-IN" dirty="0"/>
                        <a:t> the current route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3058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188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F0201-6FE9-78E2-517C-1681BFC0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3529"/>
            <a:ext cx="10058400" cy="1450757"/>
          </a:xfrm>
        </p:spPr>
        <p:txBody>
          <a:bodyPr/>
          <a:lstStyle/>
          <a:p>
            <a:r>
              <a:rPr lang="en-IN" dirty="0"/>
              <a:t>Weather Intelligence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F2F56A-7005-6EE1-FF8F-1C3313ADD7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17081" y="0"/>
            <a:ext cx="5242560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EC7D33-333B-1E64-273D-CED41D5D248C}"/>
              </a:ext>
            </a:extLst>
          </p:cNvPr>
          <p:cNvSpPr txBox="1"/>
          <p:nvPr/>
        </p:nvSpPr>
        <p:spPr>
          <a:xfrm>
            <a:off x="1036320" y="1962575"/>
            <a:ext cx="57912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entury" panose="02040604050505020304" pitchFamily="18" charset="0"/>
              </a:rPr>
              <a:t>Current weather information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Temperature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Feels-like temperature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Humidity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Atmospheric pressure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Wind speed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Wind direction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Visibility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Weather condition </a:t>
            </a:r>
          </a:p>
          <a:p>
            <a:pPr lvl="0"/>
            <a:r>
              <a:rPr lang="en-IN" dirty="0">
                <a:latin typeface="Century" panose="02040604050505020304" pitchFamily="18" charset="0"/>
              </a:rPr>
              <a:t>Precipitation / rain probability </a:t>
            </a:r>
          </a:p>
          <a:p>
            <a:pPr lvl="0"/>
            <a:endParaRPr lang="en-IN" dirty="0">
              <a:latin typeface="Century" panose="02040604050505020304" pitchFamily="18" charset="0"/>
            </a:endParaRPr>
          </a:p>
          <a:p>
            <a:r>
              <a:rPr lang="en-IN" b="1" dirty="0">
                <a:latin typeface="Century" panose="02040604050505020304" pitchFamily="18" charset="0"/>
              </a:rPr>
              <a:t>Forecast</a:t>
            </a:r>
          </a:p>
          <a:p>
            <a:r>
              <a:rPr lang="en-IN" dirty="0">
                <a:latin typeface="Century" panose="02040604050505020304" pitchFamily="18" charset="0"/>
              </a:rPr>
              <a:t>The system also provides forecast information for future periods.</a:t>
            </a:r>
          </a:p>
          <a:p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095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51DE-C641-2E25-A618-181EC75A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Connected Ports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1719A9-2571-3128-0B3F-6795DF075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13074" y="0"/>
            <a:ext cx="4578926" cy="644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E4412D-91C6-1759-9BFA-D1FEAEFE44C2}"/>
              </a:ext>
            </a:extLst>
          </p:cNvPr>
          <p:cNvSpPr txBox="1"/>
          <p:nvPr/>
        </p:nvSpPr>
        <p:spPr>
          <a:xfrm>
            <a:off x="1097280" y="1837822"/>
            <a:ext cx="6065520" cy="4608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Century" panose="02040604050505020304" pitchFamily="18" charset="0"/>
              </a:rPr>
              <a:t>Port Network Intelligence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Connected Ports allows users to select an origin port and discover destinations connected through the available route network.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entury" panose="02040604050505020304" pitchFamily="18" charset="0"/>
              </a:rPr>
              <a:t>Displays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Origin port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Destination port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Number of routes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Network connections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Total connected destinations</a:t>
            </a:r>
          </a:p>
          <a:p>
            <a:pPr>
              <a:lnSpc>
                <a:spcPct val="150000"/>
              </a:lnSpc>
            </a:pP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757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DCACB-31D6-4298-8355-77169761D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79923"/>
            <a:ext cx="10058400" cy="1450757"/>
          </a:xfrm>
        </p:spPr>
        <p:txBody>
          <a:bodyPr>
            <a:normAutofit/>
          </a:bodyPr>
          <a:lstStyle/>
          <a:p>
            <a:r>
              <a:rPr lang="en-IN" sz="3900" dirty="0"/>
              <a:t>Digital Quotation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A43DD-CA5D-6069-D8D9-F10ED9166C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4240" y="0"/>
            <a:ext cx="4937760" cy="6431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25B40D-C201-702D-CB0F-62CAACC52D6A}"/>
              </a:ext>
            </a:extLst>
          </p:cNvPr>
          <p:cNvSpPr txBox="1"/>
          <p:nvPr/>
        </p:nvSpPr>
        <p:spPr>
          <a:xfrm>
            <a:off x="685800" y="2087880"/>
            <a:ext cx="62331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entury" panose="02040604050505020304" pitchFamily="18" charset="0"/>
              </a:rPr>
              <a:t>After selecting a route, users can request a quotation digitally.</a:t>
            </a:r>
          </a:p>
          <a:p>
            <a:r>
              <a:rPr lang="en-IN" b="1" dirty="0">
                <a:latin typeface="Century" panose="02040604050505020304" pitchFamily="18" charset="0"/>
              </a:rPr>
              <a:t>Input information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Company name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Email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Phone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Origin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Destination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Route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Cargo type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Cargo weight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Container quantity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Special requirements</a:t>
            </a:r>
          </a:p>
          <a:p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930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112F-36FC-1617-7569-AF44BF75C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Search History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099CB0-6C88-D742-E6CB-341C31295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0"/>
            <a:ext cx="4739640" cy="644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8AF580-3262-07DB-4D51-29E36E50973F}"/>
              </a:ext>
            </a:extLst>
          </p:cNvPr>
          <p:cNvSpPr txBox="1"/>
          <p:nvPr/>
        </p:nvSpPr>
        <p:spPr>
          <a:xfrm>
            <a:off x="1097280" y="2023963"/>
            <a:ext cx="7117080" cy="4608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Waypoint automatically maintains previous route analyses.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Users can: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View previous searches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See origin and destination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View cargo information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See recommended route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Review transit time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Review distance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Open detailed analysis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Century" panose="02040604050505020304" pitchFamily="18" charset="0"/>
              </a:rPr>
              <a:t>Delete previous searches</a:t>
            </a:r>
          </a:p>
          <a:p>
            <a:pPr>
              <a:lnSpc>
                <a:spcPct val="150000"/>
              </a:lnSpc>
            </a:pP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6922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6913C-A7D3-1D53-479E-99A9B112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1960"/>
            <a:ext cx="10058400" cy="1450757"/>
          </a:xfrm>
        </p:spPr>
        <p:txBody>
          <a:bodyPr/>
          <a:lstStyle/>
          <a:p>
            <a:r>
              <a:rPr lang="en-IN" dirty="0"/>
              <a:t>Operations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F7581-C6BC-D4C7-CD49-2C42B05C6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7964" y="0"/>
            <a:ext cx="4294036" cy="6446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C1E1E0-F621-2A0A-089B-38985630C49B}"/>
              </a:ext>
            </a:extLst>
          </p:cNvPr>
          <p:cNvSpPr txBox="1"/>
          <p:nvPr/>
        </p:nvSpPr>
        <p:spPr>
          <a:xfrm>
            <a:off x="824782" y="1892717"/>
            <a:ext cx="6553200" cy="5027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dashboard provides a centralized view of operational activity.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KPI indicators		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Total searches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Available routes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Best routes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Connected ports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Total quotations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Average transit time 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4DC59F-2306-50EE-08B0-FDE124241995}"/>
              </a:ext>
            </a:extLst>
          </p:cNvPr>
          <p:cNvSpPr txBox="1"/>
          <p:nvPr/>
        </p:nvSpPr>
        <p:spPr>
          <a:xfrm>
            <a:off x="3924300" y="2334677"/>
            <a:ext cx="3124200" cy="4196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Analytics</a:t>
            </a:r>
          </a:p>
          <a:p>
            <a:pPr>
              <a:lnSpc>
                <a:spcPct val="150000"/>
              </a:lnSpc>
            </a:pPr>
            <a:r>
              <a:rPr lang="en-IN" dirty="0"/>
              <a:t>📊 Most searched routes</a:t>
            </a:r>
            <a:br>
              <a:rPr lang="en-IN" dirty="0"/>
            </a:br>
            <a:r>
              <a:rPr lang="en-IN" dirty="0"/>
              <a:t>🥧 Quotation status distribution</a:t>
            </a:r>
            <a:br>
              <a:rPr lang="en-IN" dirty="0"/>
            </a:br>
            <a:r>
              <a:rPr lang="en-IN" dirty="0"/>
              <a:t>📈 Route ranking</a:t>
            </a:r>
            <a:br>
              <a:rPr lang="en-IN" dirty="0"/>
            </a:br>
            <a:r>
              <a:rPr lang="en-IN" dirty="0"/>
              <a:t>💰 Freight intelligence</a:t>
            </a:r>
            <a:br>
              <a:rPr lang="en-IN" dirty="0"/>
            </a:br>
            <a:r>
              <a:rPr lang="en-IN" dirty="0"/>
              <a:t>🕘 Recent searches</a:t>
            </a:r>
            <a:br>
              <a:rPr lang="en-IN" dirty="0"/>
            </a:br>
            <a:r>
              <a:rPr lang="en-IN" dirty="0"/>
              <a:t>📋 Recent quotations</a:t>
            </a:r>
            <a:br>
              <a:rPr lang="en-IN" dirty="0"/>
            </a:br>
            <a:r>
              <a:rPr lang="en-IN" dirty="0"/>
              <a:t>🟢 System status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3894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45F92-7796-EFE3-AAA2-55D9D377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978243"/>
            <a:ext cx="10058400" cy="1450757"/>
          </a:xfrm>
        </p:spPr>
        <p:txBody>
          <a:bodyPr>
            <a:normAutofit/>
          </a:bodyPr>
          <a:lstStyle/>
          <a:p>
            <a:r>
              <a:rPr lang="en-GB" sz="5500" dirty="0"/>
              <a:t>Data Flow</a:t>
            </a:r>
            <a:endParaRPr lang="en-IN" sz="55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78CC67-B43C-F31A-E063-79FCA4AFC5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7800" y="0"/>
            <a:ext cx="69342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A899D1-4ECB-57EE-83D7-31C7316CB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34" y="1137670"/>
            <a:ext cx="4701766" cy="103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917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FAE06-E612-C8A4-5109-92A2321255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375" y="533400"/>
            <a:ext cx="11318265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17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FECF-EE53-2D55-CF6E-86441720F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8A00-3468-0BA3-02A2-93464998C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86281"/>
            <a:ext cx="9631680" cy="376089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Waypoint demonstrates how modern web technologies, maritime datasets, weather intelligence and AI assistance can be integrated into a single maritime brokerage platform.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Century" panose="02040604050505020304" pitchFamily="18" charset="0"/>
              </a:rPr>
              <a:t> The system provides: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Century" panose="02040604050505020304" pitchFamily="18" charset="0"/>
              </a:rPr>
              <a:t>Route Intelligence + Weather Intelligence + Port Connectivity + Quotations + Analytics + AI</a:t>
            </a:r>
            <a:endParaRPr lang="en-IN" dirty="0">
              <a:latin typeface="Century" panose="020406040505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2053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AB3BA2-6690-6D55-0E1D-DFF8AAC38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11"/>
            <a:ext cx="12192000" cy="681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547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{BD4242EE-5273-4883-9CE8-903C493F7363}TFb63a7776-4452-49b2-8055-21efce632b726e3c8758_win32-7d1db0309ca7</Template>
  <TotalTime>69</TotalTime>
  <Words>506</Words>
  <Application>Microsoft Office PowerPoint</Application>
  <PresentationFormat>Widescreen</PresentationFormat>
  <Paragraphs>124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Bookman Old Style</vt:lpstr>
      <vt:lpstr>Calibri</vt:lpstr>
      <vt:lpstr>Century</vt:lpstr>
      <vt:lpstr>Franklin Gothic Book</vt:lpstr>
      <vt:lpstr>Custom</vt:lpstr>
      <vt:lpstr>PowerPoint Presentation</vt:lpstr>
      <vt:lpstr>Introduction</vt:lpstr>
      <vt:lpstr>Problem Statement</vt:lpstr>
      <vt:lpstr>PowerPoint Presentation</vt:lpstr>
      <vt:lpstr>System Architecture</vt:lpstr>
      <vt:lpstr>Authentication &amp; Security</vt:lpstr>
      <vt:lpstr>Waypoint AI</vt:lpstr>
      <vt:lpstr>Waypoint AI is a Context-aware AI</vt:lpstr>
      <vt:lpstr>Weather Intelligence</vt:lpstr>
      <vt:lpstr>Connected Ports</vt:lpstr>
      <vt:lpstr>Digital Quotation System</vt:lpstr>
      <vt:lpstr>Search History</vt:lpstr>
      <vt:lpstr>Operations Dashboard</vt:lpstr>
      <vt:lpstr>Data Flow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Kotipalli</dc:creator>
  <cp:lastModifiedBy>rajesh Kotipalli</cp:lastModifiedBy>
  <cp:revision>2</cp:revision>
  <dcterms:created xsi:type="dcterms:W3CDTF">2026-09-04T10:55:43Z</dcterms:created>
  <dcterms:modified xsi:type="dcterms:W3CDTF">2026-09-04T12:04:47Z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